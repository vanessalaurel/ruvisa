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913752"/>
                </a:solidFill>
                <a:latin typeface="Aptos Display"/>
              </a:rPr>
              <a:t>RUVISA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6675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21D23"/>
                </a:solidFill>
                <a:latin typeface="Aptos Display"/>
              </a:rPr>
              <a:t>AI skincare commerce that turns selfies into science-backed beauty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606040"/>
            <a:ext cx="6126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675A65"/>
                </a:solidFill>
                <a:latin typeface="Aptos"/>
              </a:rPr>
              <a:t>A launched AI-powered skincare and beauty platform for personalized products, routines, progress tracking, and future clinic/treatment matching across Hong Kong and Southeast Asia.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794760"/>
            <a:ext cx="1234440" cy="384048"/>
          </a:xfrm>
          <a:prstGeom prst="roundRect">
            <a:avLst/>
          </a:prstGeom>
          <a:solidFill>
            <a:srgbClr val="F8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3886200"/>
            <a:ext cx="108813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13752"/>
                </a:solidFill>
                <a:latin typeface="Aptos"/>
              </a:rPr>
              <a:t>Skin analyzer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48840" y="3794760"/>
            <a:ext cx="1554480" cy="384048"/>
          </a:xfrm>
          <a:prstGeom prst="roundRect">
            <a:avLst/>
          </a:prstGeom>
          <a:solidFill>
            <a:srgbClr val="FF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21992" y="388620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13752"/>
                </a:solidFill>
                <a:latin typeface="Aptos"/>
              </a:rPr>
              <a:t>Ingredient evidence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58768" y="3794760"/>
            <a:ext cx="1097280" cy="384048"/>
          </a:xfrm>
          <a:prstGeom prst="roundRect">
            <a:avLst/>
          </a:prstGeom>
          <a:solidFill>
            <a:srgbClr val="F8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3886200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13752"/>
                </a:solidFill>
                <a:latin typeface="Aptos"/>
              </a:rPr>
              <a:t>Agentic 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38928" y="3794760"/>
            <a:ext cx="1280160" cy="384048"/>
          </a:xfrm>
          <a:prstGeom prst="roundRect">
            <a:avLst/>
          </a:prstGeom>
          <a:solidFill>
            <a:srgbClr val="FF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212080" y="3886200"/>
            <a:ext cx="11338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13752"/>
                </a:solidFill>
                <a:latin typeface="Aptos"/>
              </a:rPr>
              <a:t>Clinic booking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52360" y="1143000"/>
            <a:ext cx="1600200" cy="1051560"/>
          </a:xfrm>
          <a:prstGeom prst="round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15270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Selfie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72600" y="1143000"/>
            <a:ext cx="1600200" cy="1051560"/>
          </a:xfrm>
          <a:prstGeom prst="roundRect">
            <a:avLst/>
          </a:prstGeom>
          <a:solidFill>
            <a:srgbClr val="41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152704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AI analysis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52360" y="2880360"/>
            <a:ext cx="1600200" cy="1051560"/>
          </a:xfrm>
          <a:prstGeom prst="roundRect">
            <a:avLst/>
          </a:prstGeom>
          <a:solidFill>
            <a:srgbClr val="6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0" y="32644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Recommendation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2880360"/>
            <a:ext cx="1600200" cy="1051560"/>
          </a:xfrm>
          <a:prstGeom prst="roundRect">
            <a:avLst/>
          </a:prstGeom>
          <a:solidFill>
            <a:srgbClr val="53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3264408"/>
            <a:ext cx="1325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Track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5720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913752"/>
                </a:solidFill>
                <a:latin typeface="Aptos"/>
              </a:rPr>
              <a:t>Analyze → Match → Recommend → 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60196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75A65"/>
                </a:solidFill>
                <a:latin typeface="Aptos"/>
              </a:rPr>
              <a:t>Ruvisa | SEED Fund Pitch Deck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92840" y="65653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3752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13752"/>
                </a:solidFill>
                <a:latin typeface="Aptos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1D23"/>
                </a:solidFill>
                <a:latin typeface="Aptos Display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75A65"/>
                </a:solidFill>
                <a:latin typeface="Aptos"/>
              </a:rPr>
              <a:t>Beauty shoppers are overwhelmed by products, promotions, and treatment choices.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828800" cy="27432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" y="1764792"/>
            <a:ext cx="594360" cy="45720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92807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Hong Kong pain point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50008"/>
            <a:ext cx="3017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21D23"/>
                </a:solidFill>
                <a:latin typeface="Aptos"/>
              </a:defRPr>
            </a:pPr>
            <a:r>
              <a:t>Consumers spend about HKD 3,100/year on facial skincare.</a:t>
            </a:r>
          </a:p>
          <a:p>
            <a:pPr>
              <a:spcAft>
                <a:spcPts val="500"/>
              </a:spcAft>
              <a:defRPr sz="1400">
                <a:solidFill>
                  <a:srgbClr val="221D23"/>
                </a:solidFill>
                <a:latin typeface="Aptos"/>
              </a:defRPr>
            </a:pPr>
            <a:r>
              <a:t>Nearly 49% keep unused skincare unopened for over a year.</a:t>
            </a:r>
          </a:p>
          <a:p>
            <a:pPr>
              <a:spcAft>
                <a:spcPts val="500"/>
              </a:spcAft>
              <a:defRPr sz="1400">
                <a:solidFill>
                  <a:srgbClr val="221D23"/>
                </a:solidFill>
                <a:latin typeface="Aptos"/>
              </a:defRPr>
            </a:pPr>
            <a:r>
              <a:t>Beauty service complaints show trust issues around trials, pressure sales, prepaid packages, and unclear 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34747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9431" y="1764792"/>
            <a:ext cx="594360" cy="45720"/>
          </a:xfrm>
          <a:prstGeom prst="rect">
            <a:avLst/>
          </a:prstGeom>
          <a:solidFill>
            <a:srgbClr val="41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36007" y="1892807"/>
            <a:ext cx="3063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Southeast Asia pain 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350008"/>
            <a:ext cx="3017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21D23"/>
                </a:solidFill>
                <a:latin typeface="Aptos"/>
              </a:defRPr>
            </a:pPr>
            <a:r>
              <a:t>Beauty discovery is fragmented across Shopee, Lazada, TikTok Shop, Instagram, YouTube, and KOL content.</a:t>
            </a:r>
          </a:p>
          <a:p>
            <a:pPr>
              <a:spcAft>
                <a:spcPts val="500"/>
              </a:spcAft>
              <a:defRPr sz="1400">
                <a:solidFill>
                  <a:srgbClr val="221D23"/>
                </a:solidFill>
                <a:latin typeface="Aptos"/>
              </a:defRPr>
            </a:pPr>
            <a:r>
              <a:t>Consumers are often overwhelmed with online beauty choices.</a:t>
            </a:r>
          </a:p>
          <a:p>
            <a:pPr>
              <a:spcAft>
                <a:spcPts val="500"/>
              </a:spcAft>
              <a:defRPr sz="1400">
                <a:solidFill>
                  <a:srgbClr val="221D23"/>
                </a:solidFill>
                <a:latin typeface="Aptos"/>
              </a:defRPr>
            </a:pPr>
            <a:r>
              <a:t>Influencer-led commerce accelerates discovery, but not necessarily suitability.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1600200"/>
            <a:ext cx="3246120" cy="274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48471" y="1764792"/>
            <a:ext cx="594360" cy="45720"/>
          </a:xfrm>
          <a:prstGeom prst="rect">
            <a:avLst/>
          </a:prstGeom>
          <a:solidFill>
            <a:srgbClr val="6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5048" y="1892807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User question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1" y="2350008"/>
            <a:ext cx="27889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21D23"/>
                </a:solidFill>
                <a:latin typeface="Aptos"/>
              </a:defRPr>
            </a:pPr>
            <a:r>
              <a:t>“I have a budget and visible concern. What product, routine, or treatment actually works for me?”</a:t>
            </a:r>
          </a:p>
          <a:p>
            <a:pPr>
              <a:spcAft>
                <a:spcPts val="500"/>
              </a:spcAft>
              <a:defRPr sz="1400">
                <a:solidFill>
                  <a:srgbClr val="221D23"/>
                </a:solidFill>
                <a:latin typeface="Aptos"/>
              </a:defRPr>
            </a:pPr>
            <a:r>
              <a:t>Current platforms optimize search, promotions, and sales, not long-term skin outcomes.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787D"/>
                </a:solidFill>
                <a:latin typeface="Aptos"/>
              </a:rPr>
              <a:t>Sources: Hong Kong Consumer Council, SCMP, Retail Asia, Shopee/POND’S, TMO Group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60196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75A65"/>
                </a:solidFill>
                <a:latin typeface="Aptos"/>
              </a:rPr>
              <a:t>Ruvisa | SEED Fund Pitch Deck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92840" y="65653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375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13752"/>
                </a:solidFill>
                <a:latin typeface="Aptos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1D23"/>
                </a:solidFill>
                <a:latin typeface="Aptos Display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75A65"/>
                </a:solidFill>
                <a:latin typeface="Aptos"/>
              </a:rPr>
              <a:t>Hong Kong is the launch market; Southeast Asia is the expansion market.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828800" cy="27432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1856232"/>
            <a:ext cx="594360" cy="45720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8424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HK beauty e-commerce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4414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USD 277.4M projected 2025 revenue; growing online beauty behavior.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9164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1856232"/>
            <a:ext cx="594360" cy="45720"/>
          </a:xfrm>
          <a:prstGeom prst="rect">
            <a:avLst/>
          </a:prstGeom>
          <a:solidFill>
            <a:srgbClr val="41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98424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SEA digital beauty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4414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Shopee, Lazada, and TikTok Shop drive beauty discovery and content commerce.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52044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6112" y="3685032"/>
            <a:ext cx="594360" cy="45720"/>
          </a:xfrm>
          <a:prstGeom prst="rect">
            <a:avLst/>
          </a:prstGeom>
          <a:solidFill>
            <a:srgbClr val="6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81304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Personalized skincare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42702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AI diagnostics and customized recommendations are fast-growing global categories.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520440"/>
            <a:ext cx="493776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82512" y="3685032"/>
            <a:ext cx="594360" cy="45720"/>
          </a:xfrm>
          <a:prstGeom prst="rect">
            <a:avLst/>
          </a:prstGeom>
          <a:solidFill>
            <a:srgbClr val="53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813048"/>
            <a:ext cx="4526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Clinic/treatment discovery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4270248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High-ticket beauty services need transparency, trust, price comparison, and qualified leads.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5166360"/>
            <a:ext cx="4572000" cy="566928"/>
          </a:xfrm>
          <a:prstGeom prst="roundRect">
            <a:avLst/>
          </a:prstGeom>
          <a:solidFill>
            <a:srgbClr val="F8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5340096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13752"/>
                </a:solidFill>
                <a:latin typeface="Aptos"/>
              </a:rPr>
              <a:t>Hong Kong → Singapore → Malaysia → Indonesia → Thailand → Philippines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473952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82787D"/>
                </a:solidFill>
                <a:latin typeface="Aptos"/>
              </a:rPr>
              <a:t>Sources: Statista, China Briefing, TMO Group, Moojing Global, Astute Analytica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60196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75A65"/>
                </a:solidFill>
                <a:latin typeface="Aptos"/>
              </a:rPr>
              <a:t>Ruvisa | SEED Fund Pitch Deck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653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375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13752"/>
                </a:solidFill>
                <a:latin typeface="Aptos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1D23"/>
                </a:solidFill>
                <a:latin typeface="Aptos Display"/>
              </a:rPr>
              <a:t>Why Ruvisa?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75A65"/>
                </a:solidFill>
                <a:latin typeface="Aptos"/>
              </a:rPr>
              <a:t>One free AI beauty journey, from analysis to action.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828800" cy="27432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246120" cy="384048"/>
          </a:xfrm>
          <a:prstGeom prst="roundRect">
            <a:avLst/>
          </a:prstGeom>
          <a:solidFill>
            <a:srgbClr val="F8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00200"/>
            <a:ext cx="3099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13752"/>
                </a:solidFill>
                <a:latin typeface="Aptos"/>
              </a:rPr>
              <a:t>What is happening to my skin?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508760"/>
            <a:ext cx="3246120" cy="384048"/>
          </a:xfrm>
          <a:prstGeom prst="roundRect">
            <a:avLst/>
          </a:prstGeom>
          <a:solidFill>
            <a:srgbClr val="FF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07992" y="1600200"/>
            <a:ext cx="3099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13752"/>
                </a:solidFill>
                <a:latin typeface="Aptos"/>
              </a:rPr>
              <a:t>What product should I use next?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508760"/>
            <a:ext cx="3246120" cy="384048"/>
          </a:xfrm>
          <a:prstGeom prst="roundRect">
            <a:avLst/>
          </a:prstGeom>
          <a:solidFill>
            <a:srgbClr val="F8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11312" y="1600200"/>
            <a:ext cx="3099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13752"/>
                </a:solidFill>
                <a:latin typeface="Aptos"/>
              </a:rPr>
              <a:t>What routine fits my budget?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103120"/>
            <a:ext cx="3246120" cy="384048"/>
          </a:xfrm>
          <a:prstGeom prst="roundRect">
            <a:avLst/>
          </a:prstGeom>
          <a:solidFill>
            <a:srgbClr val="FF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2194560"/>
            <a:ext cx="3099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13752"/>
                </a:solidFill>
                <a:latin typeface="Aptos"/>
              </a:rPr>
              <a:t>Is my skin improving?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103120"/>
            <a:ext cx="3246120" cy="384048"/>
          </a:xfrm>
          <a:prstGeom prst="roundRect">
            <a:avLst/>
          </a:prstGeom>
          <a:solidFill>
            <a:srgbClr val="F8D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07992" y="2194560"/>
            <a:ext cx="3099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13752"/>
                </a:solidFill>
                <a:latin typeface="Aptos"/>
              </a:rPr>
              <a:t>Do I need product or treatment?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2103120"/>
            <a:ext cx="3246120" cy="384048"/>
          </a:xfrm>
          <a:prstGeom prst="roundRect">
            <a:avLst/>
          </a:prstGeom>
          <a:solidFill>
            <a:srgbClr val="FFF2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2" y="2194560"/>
            <a:ext cx="3099815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913752"/>
                </a:solidFill>
                <a:latin typeface="Aptos"/>
              </a:rPr>
              <a:t>Where can I book a trusted offer?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8036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" y="3044952"/>
            <a:ext cx="594360" cy="45720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172968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Free user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3630168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Selfie-based skin analysis and clear concern scores.</a:t>
            </a:r>
          </a:p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Personalized product and routine recommendations by need, budget, ingredients, reviews, and skin type.</a:t>
            </a:r>
          </a:p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Beauty journey tracking after purchases or treatments.</a:t>
            </a:r>
          </a:p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Future treatment booking matched by concern, price, rating, promotion, and quality.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2880360"/>
            <a:ext cx="50749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73952" y="3044952"/>
            <a:ext cx="594360" cy="45720"/>
          </a:xfrm>
          <a:prstGeom prst="rect">
            <a:avLst/>
          </a:prstGeom>
          <a:solidFill>
            <a:srgbClr val="41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317296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Why it wins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3630168"/>
            <a:ext cx="4617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Not only a shop. Not only a skin analyzer. Not only a chatbot.</a:t>
            </a:r>
          </a:p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A personalized decision assistant that connects analysis, products, routines, progress, promotions, and clinics.</a:t>
            </a:r>
          </a:p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Users stop jumping between shop pages, clinic pages, KOL posts, and discount lists.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60196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75A65"/>
                </a:solidFill>
                <a:latin typeface="Aptos"/>
              </a:rPr>
              <a:t>Ruvisa | SEED Fund Pitch Deck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5653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3752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13752"/>
                </a:solidFill>
                <a:latin typeface="Aptos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1D23"/>
                </a:solidFill>
                <a:latin typeface="Aptos Display"/>
              </a:rPr>
              <a:t>Product Status &amp; User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75A65"/>
                </a:solidFill>
                <a:latin typeface="Aptos"/>
              </a:rPr>
              <a:t>The Ruvisa web app is launched and ready for production pilot testing.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828800" cy="27432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828800"/>
            <a:ext cx="1143000" cy="1143000"/>
          </a:xfrm>
          <a:prstGeom prst="ellipse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22199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272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1D23"/>
                </a:solidFill>
                <a:latin typeface="Aptos"/>
              </a:rPr>
              <a:t>Register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01568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75A65"/>
                </a:solidFill>
                <a:latin typeface="Aptos"/>
              </a:rPr>
              <a:t>Login</a:t>
            </a:r>
          </a:p>
        </p:txBody>
      </p:sp>
      <p:sp>
        <p:nvSpPr>
          <p:cNvPr id="10" name="Oval 9"/>
          <p:cNvSpPr/>
          <p:nvPr/>
        </p:nvSpPr>
        <p:spPr>
          <a:xfrm>
            <a:off x="2560320" y="1828800"/>
            <a:ext cx="1143000" cy="1143000"/>
          </a:xfrm>
          <a:prstGeom prst="ellipse">
            <a:avLst/>
          </a:prstGeom>
          <a:solidFill>
            <a:srgbClr val="E8C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7" y="222199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31272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1D23"/>
                </a:solidFill>
                <a:latin typeface="Aptos"/>
              </a:rPr>
              <a:t>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31720" y="3401568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75A65"/>
                </a:solidFill>
                <a:latin typeface="Aptos"/>
              </a:rPr>
              <a:t>Face image</a:t>
            </a:r>
          </a:p>
        </p:txBody>
      </p:sp>
      <p:sp>
        <p:nvSpPr>
          <p:cNvPr id="14" name="Oval 13"/>
          <p:cNvSpPr/>
          <p:nvPr/>
        </p:nvSpPr>
        <p:spPr>
          <a:xfrm>
            <a:off x="4434840" y="1828800"/>
            <a:ext cx="1143000" cy="1143000"/>
          </a:xfrm>
          <a:prstGeom prst="ellipse">
            <a:avLst/>
          </a:prstGeom>
          <a:solidFill>
            <a:srgbClr val="41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64607" y="222199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79" y="31272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1D23"/>
                </a:solidFill>
                <a:latin typeface="Aptos"/>
              </a:rPr>
              <a:t>Analyze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401568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75A65"/>
                </a:solidFill>
                <a:latin typeface="Aptos"/>
              </a:rPr>
              <a:t>Concern score</a:t>
            </a:r>
          </a:p>
        </p:txBody>
      </p:sp>
      <p:sp>
        <p:nvSpPr>
          <p:cNvPr id="18" name="Oval 17"/>
          <p:cNvSpPr/>
          <p:nvPr/>
        </p:nvSpPr>
        <p:spPr>
          <a:xfrm>
            <a:off x="6309359" y="1828800"/>
            <a:ext cx="1143000" cy="1143000"/>
          </a:xfrm>
          <a:prstGeom prst="ellipse">
            <a:avLst/>
          </a:prstGeom>
          <a:solidFill>
            <a:srgbClr val="6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39127" y="222199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199" y="31272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1D23"/>
                </a:solidFill>
                <a:latin typeface="Aptos"/>
              </a:rPr>
              <a:t>Recommend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59" y="3401568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75A65"/>
                </a:solidFill>
                <a:latin typeface="Aptos"/>
              </a:rPr>
              <a:t>Products/routine</a:t>
            </a:r>
          </a:p>
        </p:txBody>
      </p:sp>
      <p:sp>
        <p:nvSpPr>
          <p:cNvPr id="22" name="Oval 21"/>
          <p:cNvSpPr/>
          <p:nvPr/>
        </p:nvSpPr>
        <p:spPr>
          <a:xfrm>
            <a:off x="8183879" y="1828800"/>
            <a:ext cx="1143000" cy="1143000"/>
          </a:xfrm>
          <a:prstGeom prst="ellipse">
            <a:avLst/>
          </a:prstGeom>
          <a:solidFill>
            <a:srgbClr val="53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222199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19" y="31272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1D23"/>
                </a:solidFill>
                <a:latin typeface="Aptos"/>
              </a:rPr>
              <a:t>Ask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79" y="3401568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75A65"/>
                </a:solidFill>
                <a:latin typeface="Aptos"/>
              </a:rPr>
              <a:t>Explain why</a:t>
            </a:r>
          </a:p>
        </p:txBody>
      </p:sp>
      <p:sp>
        <p:nvSpPr>
          <p:cNvPr id="26" name="Oval 25"/>
          <p:cNvSpPr/>
          <p:nvPr/>
        </p:nvSpPr>
        <p:spPr>
          <a:xfrm>
            <a:off x="10058400" y="1828800"/>
            <a:ext cx="1143000" cy="1143000"/>
          </a:xfrm>
          <a:prstGeom prst="ellipse">
            <a:avLst/>
          </a:prstGeom>
          <a:solidFill>
            <a:srgbClr val="91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88168" y="2221992"/>
            <a:ext cx="274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21240" y="3127248"/>
            <a:ext cx="1417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21D23"/>
                </a:solidFill>
                <a:latin typeface="Aptos"/>
              </a:rPr>
              <a:t>Track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29800" y="3401568"/>
            <a:ext cx="1600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675A65"/>
                </a:solidFill>
                <a:latin typeface="Aptos"/>
              </a:rPr>
              <a:t>Journey progress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160520"/>
            <a:ext cx="102412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78992" y="4325112"/>
            <a:ext cx="594360" cy="45720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453128"/>
            <a:ext cx="9829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Production readiness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70432" y="4910328"/>
            <a:ext cx="9784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21D23"/>
                </a:solidFill>
                <a:latin typeface="Aptos"/>
              </a:defRPr>
            </a:pPr>
            <a:r>
              <a:t>Frontend deployed through Cloudflare Pages.</a:t>
            </a:r>
          </a:p>
          <a:p>
            <a:pPr>
              <a:spcAft>
                <a:spcPts val="500"/>
              </a:spcAft>
              <a:defRPr sz="1200">
                <a:solidFill>
                  <a:srgbClr val="221D23"/>
                </a:solidFill>
                <a:latin typeface="Aptos"/>
              </a:defRPr>
            </a:pPr>
            <a:r>
              <a:t>Backend deployed on VPS with Nginx/HTTPS setup.</a:t>
            </a:r>
          </a:p>
          <a:p>
            <a:pPr>
              <a:spcAft>
                <a:spcPts val="500"/>
              </a:spcAft>
              <a:defRPr sz="1200">
                <a:solidFill>
                  <a:srgbClr val="221D23"/>
                </a:solidFill>
                <a:latin typeface="Aptos"/>
              </a:defRPr>
            </a:pPr>
            <a:r>
              <a:t>FastAPI backend with /api routes and health endpoint.</a:t>
            </a:r>
          </a:p>
          <a:p>
            <a:pPr>
              <a:spcAft>
                <a:spcPts val="500"/>
              </a:spcAft>
              <a:defRPr sz="1200">
                <a:solidFill>
                  <a:srgbClr val="221D23"/>
                </a:solidFill>
                <a:latin typeface="Aptos"/>
              </a:defRPr>
            </a:pPr>
            <a:r>
              <a:t>SQLite service layer for users, products, purchases, recommendations, and journey data.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4360" y="660196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75A65"/>
                </a:solidFill>
                <a:latin typeface="Aptos"/>
              </a:rPr>
              <a:t>Ruvisa | SEED Fund Pitch Deck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92840" y="65653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375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13752"/>
                </a:solidFill>
                <a:latin typeface="Aptos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1D23"/>
                </a:solidFill>
                <a:latin typeface="Aptos Display"/>
              </a:rPr>
              <a:t>Technology &amp; AI 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75A65"/>
                </a:solidFill>
                <a:latin typeface="Aptos"/>
              </a:rPr>
              <a:t>Computer vision + product intelligence + adaptive recommender + agentic AI.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828800" cy="27432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91640"/>
            <a:ext cx="24688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" y="1856232"/>
            <a:ext cx="594360" cy="45720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842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Skin Analyzer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441448"/>
            <a:ext cx="2011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21D23"/>
                </a:solidFill>
                <a:latin typeface="Aptos"/>
              </a:defRPr>
            </a:pPr>
            <a:r>
              <a:t>Detect concerns</a:t>
            </a:r>
          </a:p>
          <a:p>
            <a:pPr>
              <a:spcAft>
                <a:spcPts val="500"/>
              </a:spcAft>
              <a:defRPr sz="1150">
                <a:solidFill>
                  <a:srgbClr val="221D23"/>
                </a:solidFill>
                <a:latin typeface="Aptos"/>
              </a:defRPr>
            </a:pPr>
            <a:r>
              <a:t>Estimate severity</a:t>
            </a:r>
          </a:p>
          <a:p>
            <a:pPr>
              <a:spcAft>
                <a:spcPts val="500"/>
              </a:spcAft>
              <a:defRPr sz="1150">
                <a:solidFill>
                  <a:srgbClr val="221D23"/>
                </a:solidFill>
                <a:latin typeface="Aptos"/>
              </a:defRPr>
            </a:pPr>
            <a:r>
              <a:t>Create 7D skin vector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691640"/>
            <a:ext cx="24688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85032" y="1856232"/>
            <a:ext cx="594360" cy="45720"/>
          </a:xfrm>
          <a:prstGeom prst="rect">
            <a:avLst/>
          </a:prstGeom>
          <a:solidFill>
            <a:srgbClr val="41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9842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Product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441448"/>
            <a:ext cx="2011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21D23"/>
                </a:solidFill>
                <a:latin typeface="Aptos"/>
              </a:defRPr>
            </a:pPr>
            <a:r>
              <a:t>INCI evidence</a:t>
            </a:r>
          </a:p>
          <a:p>
            <a:pPr>
              <a:spcAft>
                <a:spcPts val="500"/>
              </a:spcAft>
              <a:defRPr sz="1150">
                <a:solidFill>
                  <a:srgbClr val="221D23"/>
                </a:solidFill>
                <a:latin typeface="Aptos"/>
              </a:defRPr>
            </a:pPr>
            <a:r>
              <a:t>Review signals</a:t>
            </a:r>
          </a:p>
          <a:p>
            <a:pPr>
              <a:spcAft>
                <a:spcPts val="500"/>
              </a:spcAft>
              <a:defRPr sz="1150">
                <a:solidFill>
                  <a:srgbClr val="221D23"/>
                </a:solidFill>
                <a:latin typeface="Aptos"/>
              </a:defRPr>
            </a:pPr>
            <a:r>
              <a:t>DeBERTa labeling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691640"/>
            <a:ext cx="24688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9672" y="1856232"/>
            <a:ext cx="594360" cy="45720"/>
          </a:xfrm>
          <a:prstGeom prst="rect">
            <a:avLst/>
          </a:prstGeom>
          <a:solidFill>
            <a:srgbClr val="6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9842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Adaptive Recommender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441448"/>
            <a:ext cx="2011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21D23"/>
                </a:solidFill>
                <a:latin typeface="Aptos"/>
              </a:defRPr>
            </a:pPr>
            <a:r>
              <a:t>Cosine matching</a:t>
            </a:r>
          </a:p>
          <a:p>
            <a:pPr>
              <a:spcAft>
                <a:spcPts val="500"/>
              </a:spcAft>
              <a:defRPr sz="1150">
                <a:solidFill>
                  <a:srgbClr val="221D23"/>
                </a:solidFill>
                <a:latin typeface="Aptos"/>
              </a:defRPr>
            </a:pPr>
            <a:r>
              <a:t>Budget/skin type</a:t>
            </a:r>
          </a:p>
          <a:p>
            <a:pPr>
              <a:spcAft>
                <a:spcPts val="500"/>
              </a:spcAft>
              <a:defRPr sz="1150">
                <a:solidFill>
                  <a:srgbClr val="221D23"/>
                </a:solidFill>
                <a:latin typeface="Aptos"/>
              </a:defRPr>
            </a:pPr>
            <a:r>
              <a:t>Learns from outcomes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691640"/>
            <a:ext cx="2468880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54312" y="1856232"/>
            <a:ext cx="594360" cy="45720"/>
          </a:xfrm>
          <a:prstGeom prst="rect">
            <a:avLst/>
          </a:prstGeom>
          <a:solidFill>
            <a:srgbClr val="53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984248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Agentic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2441448"/>
            <a:ext cx="201168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50">
                <a:solidFill>
                  <a:srgbClr val="221D23"/>
                </a:solidFill>
                <a:latin typeface="Aptos"/>
              </a:defRPr>
            </a:pPr>
            <a:r>
              <a:t>Tool-calling assistant</a:t>
            </a:r>
          </a:p>
          <a:p>
            <a:pPr>
              <a:spcAft>
                <a:spcPts val="500"/>
              </a:spcAft>
              <a:defRPr sz="1150">
                <a:solidFill>
                  <a:srgbClr val="221D23"/>
                </a:solidFill>
                <a:latin typeface="Aptos"/>
              </a:defRPr>
            </a:pPr>
            <a:r>
              <a:t>Explains decisions</a:t>
            </a:r>
          </a:p>
          <a:p>
            <a:pPr>
              <a:spcAft>
                <a:spcPts val="500"/>
              </a:spcAft>
              <a:defRPr sz="1150">
                <a:solidFill>
                  <a:srgbClr val="221D23"/>
                </a:solidFill>
                <a:latin typeface="Aptos"/>
              </a:defRPr>
            </a:pPr>
            <a:r>
              <a:t>Builds routines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55321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913752"/>
                </a:solidFill>
                <a:latin typeface="Aptos"/>
              </a:rPr>
              <a:t>Moat: every layer speaks the same skin-concern language, making recommendations explainable and measurable.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60196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75A65"/>
                </a:solidFill>
                <a:latin typeface="Aptos"/>
              </a:rPr>
              <a:t>Ruvisa | SEED Fund Pitch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653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3752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13752"/>
                </a:solidFill>
                <a:latin typeface="Aptos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1D23"/>
                </a:solidFill>
                <a:latin typeface="Aptos Display"/>
              </a:rPr>
              <a:t>Beyond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75A65"/>
                </a:solidFill>
                <a:latin typeface="Aptos"/>
              </a:rPr>
              <a:t>From skincare commerce into a beauty decision marketplace.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828800" cy="27432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5780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1810512"/>
            <a:ext cx="594360" cy="45720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3852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Treatment matching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395728"/>
            <a:ext cx="48006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For acne, pigmentation, texture, wrinkles, and other visible concerns.</a:t>
            </a:r>
          </a:p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Compare clinics by price, promotion, rating, quality, treatment type, distance, and reviews.</a:t>
            </a:r>
          </a:p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Direct booking when partner clinic supply is available.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645920"/>
            <a:ext cx="5074920" cy="2926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3952" y="1810512"/>
            <a:ext cx="594360" cy="45720"/>
          </a:xfrm>
          <a:prstGeom prst="rect">
            <a:avLst/>
          </a:prstGeom>
          <a:solidFill>
            <a:srgbClr val="41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38528"/>
            <a:ext cx="4663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65392" y="2395728"/>
            <a:ext cx="46177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Higher ticket size than product-only affiliate commerce.</a:t>
            </a:r>
          </a:p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Clinics need qualified leads.</a:t>
            </a:r>
          </a:p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Users need trust before booking beauty treatments.</a:t>
            </a:r>
          </a:p>
          <a:p>
            <a:pPr>
              <a:spcAft>
                <a:spcPts val="500"/>
              </a:spcAft>
              <a:defRPr sz="1300">
                <a:solidFill>
                  <a:srgbClr val="221D23"/>
                </a:solidFill>
                <a:latin typeface="Aptos"/>
              </a:defRPr>
            </a:pPr>
            <a:r>
              <a:t>Ruvisa organizes scattered trial offers and promotions into comparable recommendations.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5120640"/>
            <a:ext cx="9784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13752"/>
                </a:solidFill>
                <a:latin typeface="Aptos"/>
              </a:rPr>
              <a:t>Product recommendation is the entry point; treatment discovery is the larger platform opportunity.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60196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75A65"/>
                </a:solidFill>
                <a:latin typeface="Aptos"/>
              </a:rPr>
              <a:t>Ruvisa | SEED Fund Pitch Deck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5653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375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13752"/>
                </a:solidFill>
                <a:latin typeface="Aptos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1D23"/>
                </a:solidFill>
                <a:latin typeface="Aptos Display"/>
              </a:rPr>
              <a:t>Competitor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75A65"/>
                </a:solidFill>
                <a:latin typeface="Aptos"/>
              </a:rPr>
              <a:t>Ruvisa is the intelligence layer above beauty shopping.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828800" cy="27432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15568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15982"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Competitor</a:t>
                      </a:r>
                    </a:p>
                  </a:txBody>
                  <a:tcPr>
                    <a:solidFill>
                      <a:srgbClr val="913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Strength</a:t>
                      </a:r>
                    </a:p>
                  </a:txBody>
                  <a:tcPr>
                    <a:solidFill>
                      <a:srgbClr val="913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Gap Ruvisa solves</a:t>
                      </a:r>
                    </a:p>
                  </a:txBody>
                  <a:tcPr>
                    <a:solidFill>
                      <a:srgbClr val="913752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MindBeautyHK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Booking + beauty partners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Adds AI skin analysis, ingredient evidence, adaptive routines, product-treatment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@cosme HK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Reviews + rankings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Personalizes beyond popularity by selfie, budget, purchase history, and progress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Sasa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HK retail catalog + discounts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Moves from product browsing to skin-state evidence and journey tracking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iHerb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Huge global wellness catalog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Connects products to facial analysis, routines, and local HK clinic needs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</a:tr>
              <a:tr h="51598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Lookfantastic / Beautylish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Premium international beauty discovery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Adds localized progress tracking, treatment booking, and AI explanation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59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Strawberrynet / Care to Beauty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Discounts + dermocosmetic access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Reduces manual deal comparison with transparent fit and outcome learning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349240"/>
            <a:ext cx="103327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78992" y="5513831"/>
            <a:ext cx="594360" cy="45720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5641848"/>
            <a:ext cx="9921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Why Ruvisa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6099048"/>
            <a:ext cx="9875520" cy="-45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21D23"/>
                </a:solidFill>
                <a:latin typeface="Aptos"/>
              </a:defRPr>
            </a:pPr>
            <a:r>
              <a:t>Starts from the user’s skin profile, not a product category.</a:t>
            </a:r>
          </a:p>
          <a:p>
            <a:pPr>
              <a:spcAft>
                <a:spcPts val="500"/>
              </a:spcAft>
              <a:defRPr sz="1100">
                <a:solidFill>
                  <a:srgbClr val="221D23"/>
                </a:solidFill>
                <a:latin typeface="Aptos"/>
              </a:defRPr>
            </a:pPr>
            <a:r>
              <a:t>Recommends skincare, makeup, routines, promotions, and future clinics in one journey.</a:t>
            </a:r>
          </a:p>
          <a:p>
            <a:pPr>
              <a:spcAft>
                <a:spcPts val="500"/>
              </a:spcAft>
              <a:defRPr sz="1100">
                <a:solidFill>
                  <a:srgbClr val="221D23"/>
                </a:solidFill>
                <a:latin typeface="Aptos"/>
              </a:defRPr>
            </a:pPr>
            <a:r>
              <a:t>Learns from purchases and skin progress over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60196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75A65"/>
                </a:solidFill>
                <a:latin typeface="Aptos"/>
              </a:rPr>
              <a:t>Ruvisa | SEED Fund Pitch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653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375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13752"/>
                </a:solidFill>
                <a:latin typeface="Aptos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1D23"/>
                </a:solidFill>
                <a:latin typeface="Aptos Display"/>
              </a:rP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75A65"/>
                </a:solidFill>
                <a:latin typeface="Aptos"/>
              </a:rPr>
              <a:t>B2C and B2B revenue paths from products, routines, and clinics.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828800" cy="27432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" y="1719072"/>
            <a:ext cx="594360" cy="45720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Product commission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042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70">
                <a:solidFill>
                  <a:srgbClr val="221D23"/>
                </a:solidFill>
                <a:latin typeface="Aptos"/>
              </a:defRPr>
            </a:pPr>
            <a:r>
              <a:t>Commission when users buy recommended skincare, makeup, or beauty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5544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90872" y="1719072"/>
            <a:ext cx="594360" cy="45720"/>
          </a:xfrm>
          <a:prstGeom prst="rect">
            <a:avLst/>
          </a:prstGeom>
          <a:solidFill>
            <a:srgbClr val="41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8" y="18470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Treatment booking commission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23042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70">
                <a:solidFill>
                  <a:srgbClr val="221D23"/>
                </a:solidFill>
                <a:latin typeface="Aptos"/>
              </a:defRPr>
            </a:pPr>
            <a:r>
              <a:t>Fees when users book partner clinic treatments, first-trial offers, or beauty services.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15544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31352" y="1719072"/>
            <a:ext cx="594360" cy="45720"/>
          </a:xfrm>
          <a:prstGeom prst="rect">
            <a:avLst/>
          </a:prstGeom>
          <a:solidFill>
            <a:srgbClr val="6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67928" y="18470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Evidence-labeled placements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22792" y="23042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70">
                <a:solidFill>
                  <a:srgbClr val="221D23"/>
                </a:solidFill>
                <a:latin typeface="Aptos"/>
              </a:defRPr>
            </a:pPr>
            <a:r>
              <a:t>Brands/clinics promote offers while recommendation logic stays transparent.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832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0392" y="3547872"/>
            <a:ext cx="594360" cy="45720"/>
          </a:xfrm>
          <a:prstGeom prst="rect">
            <a:avLst/>
          </a:prstGeom>
          <a:solidFill>
            <a:srgbClr val="53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675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Premium subscription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70">
                <a:solidFill>
                  <a:srgbClr val="221D23"/>
                </a:solidFill>
                <a:latin typeface="Aptos"/>
              </a:defRPr>
            </a:pPr>
            <a:r>
              <a:t>Advanced tracking, routine optimization, ingredient warnings, deeper AI consultation.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3383280"/>
            <a:ext cx="3429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90872" y="3547872"/>
            <a:ext cx="594360" cy="45720"/>
          </a:xfrm>
          <a:prstGeom prst="rect">
            <a:avLst/>
          </a:prstGeom>
          <a:solidFill>
            <a:srgbClr val="E8C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27448" y="367588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B2B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4133088"/>
            <a:ext cx="2971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70">
                <a:solidFill>
                  <a:srgbClr val="221D23"/>
                </a:solidFill>
                <a:latin typeface="Aptos"/>
              </a:defRPr>
            </a:pPr>
            <a:r>
              <a:t>Trends, budget demand, ingredient interest, review sentiment, conversion insights.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80644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913752"/>
                </a:solidFill>
                <a:latin typeface="Aptos"/>
              </a:rPr>
              <a:t>B2C: consumers get personalized guidance. B2B: brands and clinics get qualified intent.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60196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75A65"/>
                </a:solidFill>
                <a:latin typeface="Aptos"/>
              </a:rPr>
              <a:t>Ruvisa | SEED Fund Pitch Deck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653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375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13752"/>
                </a:solidFill>
                <a:latin typeface="Aptos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1D23"/>
                </a:solidFill>
                <a:latin typeface="Aptos Display"/>
              </a:rP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75A65"/>
                </a:solidFill>
                <a:latin typeface="Aptos"/>
              </a:rPr>
              <a:t>Win trust through KOLs, university communities, promotions, and free skin consultations.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828800" cy="27432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554480"/>
            <a:ext cx="25146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0392" y="1719072"/>
            <a:ext cx="594360" cy="45720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847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1. HK beta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1832" y="2304288"/>
            <a:ext cx="2057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21D23"/>
                </a:solidFill>
                <a:latin typeface="Aptos"/>
              </a:defRPr>
            </a:pPr>
            <a:r>
              <a:t>Students, young professionals, beauty beginners</a:t>
            </a:r>
          </a:p>
          <a:p>
            <a:pPr>
              <a:spcAft>
                <a:spcPts val="500"/>
              </a:spcAft>
              <a:defRPr sz="1050">
                <a:solidFill>
                  <a:srgbClr val="221D23"/>
                </a:solidFill>
                <a:latin typeface="Aptos"/>
              </a:defRPr>
            </a:pPr>
            <a:r>
              <a:t>University ambassadors + student communities</a:t>
            </a:r>
          </a:p>
          <a:p>
            <a:pPr>
              <a:spcAft>
                <a:spcPts val="500"/>
              </a:spcAft>
              <a:defRPr sz="1050">
                <a:solidFill>
                  <a:srgbClr val="221D23"/>
                </a:solidFill>
                <a:latin typeface="Aptos"/>
              </a:defRPr>
            </a:pPr>
            <a:r>
              <a:t>Focus: acne, pigmentation, texture, pores, redness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554480"/>
            <a:ext cx="25146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85032" y="1719072"/>
            <a:ext cx="594360" cy="45720"/>
          </a:xfrm>
          <a:prstGeom prst="rect">
            <a:avLst/>
          </a:prstGeom>
          <a:solidFill>
            <a:srgbClr val="41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847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2. KOL 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6472" y="2304288"/>
            <a:ext cx="2057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21D23"/>
                </a:solidFill>
                <a:latin typeface="Aptos"/>
              </a:defRPr>
            </a:pPr>
            <a:r>
              <a:t>Beauty influencers and micro-KOLs</a:t>
            </a:r>
          </a:p>
          <a:p>
            <a:pPr>
              <a:spcAft>
                <a:spcPts val="500"/>
              </a:spcAft>
              <a:defRPr sz="1050">
                <a:solidFill>
                  <a:srgbClr val="221D23"/>
                </a:solidFill>
                <a:latin typeface="Aptos"/>
              </a:defRPr>
            </a:pPr>
            <a:r>
              <a:t>Scan challenges + demo videos</a:t>
            </a:r>
          </a:p>
          <a:p>
            <a:pPr>
              <a:spcAft>
                <a:spcPts val="500"/>
              </a:spcAft>
              <a:defRPr sz="1050">
                <a:solidFill>
                  <a:srgbClr val="221D23"/>
                </a:solidFill>
                <a:latin typeface="Aptos"/>
              </a:defRPr>
            </a:pPr>
            <a:r>
              <a:t>Monthly progress stories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554480"/>
            <a:ext cx="25146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9672" y="1719072"/>
            <a:ext cx="594360" cy="45720"/>
          </a:xfrm>
          <a:prstGeom prst="rect">
            <a:avLst/>
          </a:prstGeom>
          <a:solidFill>
            <a:srgbClr val="6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56248" y="1847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3. Promotions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11112" y="2304288"/>
            <a:ext cx="2057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21D23"/>
                </a:solidFill>
                <a:latin typeface="Aptos"/>
              </a:defRPr>
            </a:pPr>
            <a:r>
              <a:t>Free AI skin consultation campaigns</a:t>
            </a:r>
          </a:p>
          <a:p>
            <a:pPr>
              <a:spcAft>
                <a:spcPts val="500"/>
              </a:spcAft>
              <a:defRPr sz="1050">
                <a:solidFill>
                  <a:srgbClr val="221D23"/>
                </a:solidFill>
                <a:latin typeface="Aptos"/>
              </a:defRPr>
            </a:pPr>
            <a:r>
              <a:t>Product discounts + clinic first-trial offers</a:t>
            </a:r>
          </a:p>
          <a:p>
            <a:pPr>
              <a:spcAft>
                <a:spcPts val="500"/>
              </a:spcAft>
              <a:defRPr sz="1050">
                <a:solidFill>
                  <a:srgbClr val="221D23"/>
                </a:solidFill>
                <a:latin typeface="Aptos"/>
              </a:defRPr>
            </a:pPr>
            <a:r>
              <a:t>Direct booking when partners are ready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554480"/>
            <a:ext cx="2514600" cy="3886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354312" y="1719072"/>
            <a:ext cx="594360" cy="45720"/>
          </a:xfrm>
          <a:prstGeom prst="rect">
            <a:avLst/>
          </a:prstGeom>
          <a:solidFill>
            <a:srgbClr val="53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90888" y="184708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4. SEA expansion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45752" y="2304288"/>
            <a:ext cx="2057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21D23"/>
                </a:solidFill>
                <a:latin typeface="Aptos"/>
              </a:defRPr>
            </a:pPr>
            <a:r>
              <a:t>Localize catalog and clinic data</a:t>
            </a:r>
          </a:p>
          <a:p>
            <a:pPr>
              <a:spcAft>
                <a:spcPts val="500"/>
              </a:spcAft>
              <a:defRPr sz="1050">
                <a:solidFill>
                  <a:srgbClr val="221D23"/>
                </a:solidFill>
                <a:latin typeface="Aptos"/>
              </a:defRPr>
            </a:pPr>
            <a:r>
              <a:t>Shopee/Lazada/TikTok trend signals</a:t>
            </a:r>
          </a:p>
          <a:p>
            <a:pPr>
              <a:spcAft>
                <a:spcPts val="500"/>
              </a:spcAft>
              <a:defRPr sz="1050">
                <a:solidFill>
                  <a:srgbClr val="221D23"/>
                </a:solidFill>
                <a:latin typeface="Aptos"/>
              </a:defRPr>
            </a:pPr>
            <a:r>
              <a:t>Local KOL + campus communities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806440"/>
            <a:ext cx="10515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50" b="1">
                <a:solidFill>
                  <a:srgbClr val="913752"/>
                </a:solidFill>
                <a:latin typeface="Aptos"/>
              </a:rPr>
              <a:t>Funnel: KOL/uni campaign → free scan → recommendation → product purchase → clinic booking → progress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60196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75A65"/>
                </a:solidFill>
                <a:latin typeface="Aptos"/>
              </a:rPr>
              <a:t>Ruvisa | SEED Fund Pitch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653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375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13752"/>
                </a:solidFill>
                <a:latin typeface="Aptos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1D23"/>
                </a:solidFill>
                <a:latin typeface="Aptos Display"/>
              </a:rPr>
              <a:t>Milestones &amp; HKD 100,000 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75A65"/>
                </a:solidFill>
                <a:latin typeface="Aptos"/>
              </a:rPr>
              <a:t>SEED funding turns Ruvisa into a measurable market pilot.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828800" cy="27432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17320"/>
          <a:ext cx="667512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5040"/>
                <a:gridCol w="2225040"/>
                <a:gridCol w="2225040"/>
              </a:tblGrid>
              <a:tr h="607422"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Timeline</a:t>
                      </a:r>
                    </a:p>
                  </a:txBody>
                  <a:tcPr>
                    <a:solidFill>
                      <a:srgbClr val="913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913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85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 output</a:t>
                      </a:r>
                    </a:p>
                  </a:txBody>
                  <a:tcPr>
                    <a:solidFill>
                      <a:srgbClr val="913752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Month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Production hardening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Domain, HTTPS, monitoring, backup, analytics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Month 2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Beta launch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100-200 users, 50+ scans, university ambassadors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Month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Recommendation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Track clicks, saves, purchases, routine engagement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Month 4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Catalog + promos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More HK products, discounts, review evidence, ingredients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</a:tr>
              <a:tr h="607422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Month 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Clinic pilot prep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Clinic schema: rating, price, promotion, treatment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7428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Month 6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Partnership pilot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2-3 brand/clinic conversations or booking trial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</a:tr>
            </a:tbl>
          </a:graphicData>
        </a:graphic>
      </p:graphicFrame>
      <p:sp>
        <p:nvSpPr>
          <p:cNvPr id="7" name="Oval 6"/>
          <p:cNvSpPr/>
          <p:nvPr/>
        </p:nvSpPr>
        <p:spPr>
          <a:xfrm>
            <a:off x="7680960" y="1508760"/>
            <a:ext cx="1005840" cy="1005840"/>
          </a:xfrm>
          <a:prstGeom prst="ellipse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45552" y="1801368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25k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0" y="2569463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1D23"/>
                </a:solidFill>
                <a:latin typeface="Aptos"/>
              </a:rPr>
              <a:t>Hardening</a:t>
            </a:r>
          </a:p>
        </p:txBody>
      </p:sp>
      <p:sp>
        <p:nvSpPr>
          <p:cNvPr id="10" name="Oval 9"/>
          <p:cNvSpPr/>
          <p:nvPr/>
        </p:nvSpPr>
        <p:spPr>
          <a:xfrm>
            <a:off x="9464040" y="1508760"/>
            <a:ext cx="1005840" cy="1005840"/>
          </a:xfrm>
          <a:prstGeom prst="ellipse">
            <a:avLst/>
          </a:prstGeom>
          <a:solidFill>
            <a:srgbClr val="41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28632" y="1801368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25k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569463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1D23"/>
                </a:solidFill>
                <a:latin typeface="Aptos"/>
              </a:rPr>
              <a:t>Data</a:t>
            </a:r>
          </a:p>
        </p:txBody>
      </p:sp>
      <p:sp>
        <p:nvSpPr>
          <p:cNvPr id="13" name="Oval 12"/>
          <p:cNvSpPr/>
          <p:nvPr/>
        </p:nvSpPr>
        <p:spPr>
          <a:xfrm>
            <a:off x="7680960" y="2743200"/>
            <a:ext cx="1005840" cy="1005840"/>
          </a:xfrm>
          <a:prstGeom prst="ellipse">
            <a:avLst/>
          </a:prstGeom>
          <a:solidFill>
            <a:srgbClr val="6E5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3035808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20k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380390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1D23"/>
                </a:solidFill>
                <a:latin typeface="Aptos"/>
              </a:rPr>
              <a:t>KOL/beta</a:t>
            </a:r>
          </a:p>
        </p:txBody>
      </p:sp>
      <p:sp>
        <p:nvSpPr>
          <p:cNvPr id="16" name="Oval 15"/>
          <p:cNvSpPr/>
          <p:nvPr/>
        </p:nvSpPr>
        <p:spPr>
          <a:xfrm>
            <a:off x="9464040" y="2743200"/>
            <a:ext cx="1005840" cy="1005840"/>
          </a:xfrm>
          <a:prstGeom prst="ellipse">
            <a:avLst/>
          </a:prstGeom>
          <a:solidFill>
            <a:srgbClr val="539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28632" y="3035808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15k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380390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1D23"/>
                </a:solidFill>
                <a:latin typeface="Aptos"/>
              </a:rPr>
              <a:t>UX/UI</a:t>
            </a:r>
          </a:p>
        </p:txBody>
      </p:sp>
      <p:sp>
        <p:nvSpPr>
          <p:cNvPr id="19" name="Oval 18"/>
          <p:cNvSpPr/>
          <p:nvPr/>
        </p:nvSpPr>
        <p:spPr>
          <a:xfrm>
            <a:off x="7680960" y="3977639"/>
            <a:ext cx="1005840" cy="1005840"/>
          </a:xfrm>
          <a:prstGeom prst="ellipse">
            <a:avLst/>
          </a:prstGeom>
          <a:solidFill>
            <a:srgbClr val="E8C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4270248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50383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1D23"/>
                </a:solidFill>
                <a:latin typeface="Aptos"/>
              </a:rPr>
              <a:t>Advisors</a:t>
            </a:r>
          </a:p>
        </p:txBody>
      </p:sp>
      <p:sp>
        <p:nvSpPr>
          <p:cNvPr id="22" name="Oval 21"/>
          <p:cNvSpPr/>
          <p:nvPr/>
        </p:nvSpPr>
        <p:spPr>
          <a:xfrm>
            <a:off x="9464040" y="3977639"/>
            <a:ext cx="1005840" cy="1005840"/>
          </a:xfrm>
          <a:prstGeom prst="ellipse">
            <a:avLst/>
          </a:prstGeom>
          <a:solidFill>
            <a:srgbClr val="91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28632" y="4270248"/>
            <a:ext cx="685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1160" y="503834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21D23"/>
                </a:solidFill>
                <a:latin typeface="Aptos"/>
              </a:rPr>
              <a:t>Buffer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60196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75A65"/>
                </a:solidFill>
                <a:latin typeface="Aptos"/>
              </a:rPr>
              <a:t>Ruvisa | SEED Fund Pitch Deck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653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375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913752"/>
                </a:solidFill>
                <a:latin typeface="Aptos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221D23"/>
                </a:solidFill>
                <a:latin typeface="Aptos Display"/>
              </a:rPr>
              <a:t>Revenue Forecast &amp; Closing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3268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75A65"/>
                </a:solidFill>
                <a:latin typeface="Aptos"/>
              </a:rPr>
              <a:t>Target: HKD 80,000–120,000 pilot revenue in Year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25880"/>
            <a:ext cx="1828800" cy="27432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417320"/>
          <a:ext cx="676656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55520"/>
                <a:gridCol w="2255520"/>
                <a:gridCol w="2255520"/>
              </a:tblGrid>
              <a:tr h="47244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Period</a:t>
                      </a:r>
                    </a:p>
                  </a:txBody>
                  <a:tcPr>
                    <a:solidFill>
                      <a:srgbClr val="913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 source</a:t>
                      </a:r>
                    </a:p>
                  </a:txBody>
                  <a:tcPr>
                    <a:solidFill>
                      <a:srgbClr val="91375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913752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M1-M3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Beta, no monetization focus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HKD 0-5k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M4-M6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Affiliate clicks + brand/KOL tests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HKD 10-20k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M7-M9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Product commission + premium + clinic leads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HKD 25-35k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M10-M12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Product partnerships + clinic booking pilot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HKD 45-60k</a:t>
                      </a:r>
                    </a:p>
                  </a:txBody>
                  <a:tcPr>
                    <a:solidFill>
                      <a:srgbClr val="FFF5F6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Year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Combined pilot revenue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21D23"/>
                          </a:solidFill>
                          <a:latin typeface="Aptos"/>
                        </a:defRPr>
                      </a:pPr>
                      <a:r>
                        <a:t>HKD 80-120k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18120" y="1417320"/>
            <a:ext cx="3429000" cy="2834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982712" y="1581912"/>
            <a:ext cx="594360" cy="45720"/>
          </a:xfrm>
          <a:prstGeom prst="rect">
            <a:avLst/>
          </a:prstGeom>
          <a:solidFill>
            <a:srgbClr val="417F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170992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Key assumptions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74152" y="2167128"/>
            <a:ext cx="2971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21D23"/>
                </a:solidFill>
                <a:latin typeface="Aptos"/>
              </a:defRPr>
            </a:pPr>
            <a:r>
              <a:t>500-1,000 registered users in pilot year.</a:t>
            </a:r>
          </a:p>
          <a:p>
            <a:pPr>
              <a:spcAft>
                <a:spcPts val="500"/>
              </a:spcAft>
              <a:defRPr sz="1100">
                <a:solidFill>
                  <a:srgbClr val="221D23"/>
                </a:solidFill>
                <a:latin typeface="Aptos"/>
              </a:defRPr>
            </a:pPr>
            <a:r>
              <a:t>20-30% complete at least one scan.</a:t>
            </a:r>
          </a:p>
          <a:p>
            <a:pPr>
              <a:spcAft>
                <a:spcPts val="500"/>
              </a:spcAft>
              <a:defRPr sz="1100">
                <a:solidFill>
                  <a:srgbClr val="221D23"/>
                </a:solidFill>
                <a:latin typeface="Aptos"/>
              </a:defRPr>
            </a:pPr>
            <a:r>
              <a:t>5-10% click recommended products, promotions, or clinic leads.</a:t>
            </a:r>
          </a:p>
          <a:p>
            <a:pPr>
              <a:spcAft>
                <a:spcPts val="500"/>
              </a:spcAft>
              <a:defRPr sz="1100">
                <a:solidFill>
                  <a:srgbClr val="221D23"/>
                </a:solidFill>
                <a:latin typeface="Aptos"/>
              </a:defRPr>
            </a:pPr>
            <a:r>
              <a:t>Revenue starts with affiliate and partnerships, then grows through clinic bookings.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709160"/>
            <a:ext cx="102412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3271" y="4873752"/>
            <a:ext cx="594360" cy="45720"/>
          </a:xfrm>
          <a:prstGeom prst="rect">
            <a:avLst/>
          </a:prstGeom>
          <a:solidFill>
            <a:srgbClr val="C1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5001768"/>
            <a:ext cx="9829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21D23"/>
                </a:solidFill>
                <a:latin typeface="Aptos"/>
              </a:rPr>
              <a:t>Funding ask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" y="5458968"/>
            <a:ext cx="978408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21D23"/>
                </a:solidFill>
                <a:latin typeface="Aptos"/>
              </a:defRPr>
            </a:pPr>
            <a:r>
              <a:t>Ruvisa seeks HKD 100,000 SEED support to validate an AI beauty commerce platform that reduces waste, improves recommendation trust, and unlocks product + clinic revenue across HK and SEA.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58064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913752"/>
                </a:solidFill>
                <a:latin typeface="Aptos"/>
              </a:rPr>
              <a:t>Ruvisa helps beauty consumers stop guessing and start choosing with evidence.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601968"/>
            <a:ext cx="29260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50" b="0">
                <a:solidFill>
                  <a:srgbClr val="675A65"/>
                </a:solidFill>
                <a:latin typeface="Aptos"/>
              </a:rPr>
              <a:t>Ruvisa | SEED Fund Pitch Deck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565392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91375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